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13"/>
    <p:sldId id="256" r:id="rId2"/>
    <p:sldId id="257" r:id="rId3"/>
    <p:sldId id="258" r:id="rId4"/>
    <p:sldId id="259" r:id="rId5"/>
    <p:sldId id="260" r:id="rId6"/>
    <p:sldId id="262" r:id="rId7"/>
  </p:sldIdLst>
  <p:sldSz cx="9144000" cy="6858000" type="screen4x3"/>
  <p:notesSz cx="6858000" cy="9144000"/>
  <p:custDataLst>
    <p:tags r:id="rId8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344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51E543-08BF-36F3-E760-26DB91508520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8496008" y="6126163"/>
            <a:ext cx="585469" cy="7318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2708AC0-102D-044B-D46A-625B79DCABA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62523" y="6126162"/>
            <a:ext cx="585469" cy="73183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D06723F-EB0F-23A6-7F09-B86760A0C4D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352100" y="6301764"/>
            <a:ext cx="6439799" cy="39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Opponent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4000" y="533400"/>
            <a:ext cx="260000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Aptos"/>
              </a:rPr>
              <a:t>Opponent: River Falls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4000" y="889000"/>
          <a:ext cx="3300000" cy="3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1300000"/>
              </a:tblGrid>
              <a:tr h="366666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Statistic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Value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Overall Record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Total Sacks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Total INTs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Total Fumble Recoveries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Last 5 Games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Avg. Margin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6666">
                <a:tc>
                  <a:txBody>
                    <a:bodyPr lIns="50800" rIns="50800" tIns="25400" bIns="25400"/>
                    <a:lstStyle/>
                    <a:p>
                      <a:r>
                        <a:t>One-Possession Games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6672">
                <a:tc>
                  <a:txBody>
                    <a:bodyPr lIns="50800" rIns="50800" tIns="25400" bIns="25400"/>
                    <a:lstStyle/>
                    <a:p>
                      <a:r>
                        <a:t>Wins vs Winning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800000" y="889000"/>
          <a:ext cx="5050000" cy="42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0000"/>
                <a:gridCol w="1850000"/>
                <a:gridCol w="850000"/>
                <a:gridCol w="950000"/>
                <a:gridCol w="750000"/>
              </a:tblGrid>
              <a:tr h="323076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Game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Opponent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Record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Score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W/L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3076">
                <a:tc>
                  <a:txBody>
                    <a:bodyPr lIns="50800" rIns="50800" tIns="25400" bIns="25400"/>
                    <a:lstStyle/>
                    <a:p>
                      <a: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23088">
                <a:tc>
                  <a:txBody>
                    <a:bodyPr lIns="50800" rIns="50800" tIns="25400" bIns="25400"/>
                    <a:lstStyle/>
                    <a:p>
                      <a: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54000" y="6400000"/>
            <a:ext cx="4000000" cy="25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Aptos"/>
              </a:rPr>
              <a:t>Source: GoBound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chemeClr val="tx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Front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202644"/>
              </p:ext>
            </p:extLst>
          </p:nvPr>
        </p:nvGraphicFramePr>
        <p:xfrm>
          <a:off x="254000" y="889000"/>
          <a:ext cx="5461000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1377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8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55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380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8523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Front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Usage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Blitz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</a:rPr>
                        <a:t>Top Blitz Call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TUFF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70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42.7%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TITE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33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20.1%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404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15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9.1%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RNR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10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6.1%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G'S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6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3.7%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/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195EA9D6-5E40-987B-F088-3F7E0071716F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Blitz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878256"/>
              </p:ext>
            </p:extLst>
          </p:nvPr>
        </p:nvGraphicFramePr>
        <p:xfrm>
          <a:off x="433125" y="889000"/>
          <a:ext cx="8277750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655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2134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Blitz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Snaps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Usage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Top Stunt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Stunt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SNAKE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19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11.6%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CRASH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E0000"/>
                          </a:solidFill>
                        </a:rPr>
                        <a:t>63.2%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RAM X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9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5.5%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SLANT WEAK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E0000"/>
                          </a:solidFill>
                        </a:rPr>
                        <a:t>100.0%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RATTLE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4.3%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SLANT STRONG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57.1%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COBRA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SLANT WEAK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28.6%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RAW X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7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SLANT STRONG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BE0000"/>
                          </a:solidFill>
                        </a:rPr>
                        <a:t>100.0%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E4B97E2-E997-9D4C-E429-3EB02AFF4424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Coverage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3440972"/>
              </p:ext>
            </p:extLst>
          </p:nvPr>
        </p:nvGraphicFramePr>
        <p:xfrm>
          <a:off x="143123" y="889000"/>
          <a:ext cx="8658972" cy="300143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15954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08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31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31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00329"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Coverage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Overall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1st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2nd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3rd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 dirty="0">
                          <a:solidFill>
                            <a:srgbClr val="FFFFFF"/>
                          </a:solidFill>
                        </a:rPr>
                        <a:t>4th Down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2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42.1%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52.3%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34.5%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43.2%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0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41.5%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33.8%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47.3%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40.5%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BE0000"/>
                          </a:solidFill>
                        </a:rPr>
                        <a:t>71.4%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4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5.5%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7.3%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8.1%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3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1.8%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5.5%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1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0.6%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1.5%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0.0%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3rd Down Tendencies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BA1A043-7276-1F8C-5CB7-5C67EC43B4ED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53999" y="889000"/>
          <a:ext cx="8420873" cy="322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2592"/>
                <a:gridCol w="1178922"/>
                <a:gridCol w="5389359"/>
              </a:tblGrid>
              <a:tr h="80518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Situation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Total Plays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Top 5 Front/Stunt/Blitz/Coverage Calls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</a:tr>
              <a:tr h="805180">
                <a:tc>
                  <a:txBody>
                    <a:bodyPr lIns="50800" rIns="50800" tIns="25400" bIns="25400"/>
                    <a:lstStyle/>
                    <a:p>
                      <a:r>
                        <a:t>3rd &amp; 7+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05180">
                <a:tc>
                  <a:txBody>
                    <a:bodyPr lIns="50800" rIns="50800" tIns="25400" bIns="25400"/>
                    <a:lstStyle/>
                    <a:p>
                      <a:r>
                        <a:t>3rd &amp; 3-6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5180">
                <a:tc>
                  <a:txBody>
                    <a:bodyPr lIns="50800" rIns="50800" tIns="25400" bIns="25400"/>
                    <a:lstStyle/>
                    <a:p>
                      <a:r>
                        <a:t>3rd &amp; 1-2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Red Zone Tendencies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4000" y="533400"/>
            <a:ext cx="168026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3999" y="889000"/>
          <a:ext cx="834931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6848"/>
                <a:gridCol w="1168903"/>
                <a:gridCol w="5343559"/>
              </a:tblGrid>
              <a:tr h="812800"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Situation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Total Plays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ptos"/>
                        </a:rPr>
                        <a:t>Top 5 Front/Stunt/Blitz/Coverage Calls</a:t>
                      </a:r>
                    </a:p>
                  </a:txBody>
                  <a:tcPr>
                    <a:solidFill>
                      <a:srgbClr val="BE0000"/>
                    </a:solidFill>
                  </a:tcPr>
                </a:tc>
              </a:tr>
              <a:tr h="812800">
                <a:tc>
                  <a:txBody>
                    <a:bodyPr lIns="50800" rIns="50800" tIns="25400" bIns="25400"/>
                    <a:lstStyle/>
                    <a:p>
                      <a:r>
                        <a:t>High Red Zone (25-15)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812800">
                <a:tc>
                  <a:txBody>
                    <a:bodyPr lIns="50800" rIns="50800" tIns="25400" bIns="25400"/>
                    <a:lstStyle/>
                    <a:p>
                      <a:r>
                        <a:t>Red Zone (15-5)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 lIns="50800" rIns="50800" tIns="25400" bIns="25400"/>
                    <a:lstStyle/>
                    <a:p>
                      <a:r>
                        <a:t>Goal Line (Inside the 5)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lIns="50800" rIns="50800" tIns="25400" bIns="25400"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31800"/>
          </a:xfrm>
          <a:prstGeom prst="rect">
            <a:avLst/>
          </a:prstGeom>
          <a:solidFill>
            <a:srgbClr val="00000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31800"/>
            <a:ext cx="9144000" cy="50800"/>
          </a:xfrm>
          <a:prstGeom prst="rect">
            <a:avLst/>
          </a:prstGeom>
          <a:solidFill>
            <a:srgbClr val="FF0000"/>
          </a:solidFill>
          <a:ln>
            <a:solidFill>
              <a:srgbClr val="BE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28600" y="50800"/>
            <a:ext cx="723900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Formation Tendencies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3449033"/>
              </p:ext>
            </p:extLst>
          </p:nvPr>
        </p:nvGraphicFramePr>
        <p:xfrm>
          <a:off x="254000" y="889000"/>
          <a:ext cx="8476532" cy="2970954"/>
        </p:xfrm>
        <a:graphic>
          <a:graphicData uri="http://schemas.openxmlformats.org/drawingml/2006/table">
            <a:tbl>
              <a:tblPr firstRow="1" bandRow="1">
                <a:tableStyleId>{85BE263C-DBD7-4A20-BB59-AAB30ACAA65A}</a:tableStyleId>
              </a:tblPr>
              <a:tblGrid>
                <a:gridCol w="21191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19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84426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Formation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Front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Blitz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FFFFFF"/>
                          </a:solidFill>
                        </a:rPr>
                        <a:t>Coverage 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FLANK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TUFF (25.0%)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rgbClr val="BE0000"/>
                          </a:solidFill>
                        </a:rPr>
                        <a:t>62.5%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0 (70.8%)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DEUCE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TUFF (43.5%)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34.8%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2 (43.5%)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DUO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TUFF (63.6%)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22.7%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COVER 2 (59.1%)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9166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TRIO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TUFF (57.9%)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42.1%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COVER 2 (52.6%)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9170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FLIP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TUFF (46.7%)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000000"/>
                          </a:solidFill>
                        </a:rPr>
                        <a:t>26.7%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 dirty="0">
                          <a:solidFill>
                            <a:srgbClr val="000000"/>
                          </a:solidFill>
                        </a:rPr>
                        <a:t>COVER 2 (53.3%)</a:t>
                      </a:r>
                    </a:p>
                  </a:txBody>
                  <a:tcPr marL="50800" marR="50800" marT="25400" marB="254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6BB168D-1256-B5D3-8B0C-1DD42631F597}"/>
              </a:ext>
            </a:extLst>
          </p:cNvPr>
          <p:cNvSpPr txBox="1"/>
          <p:nvPr/>
        </p:nvSpPr>
        <p:spPr>
          <a:xfrm>
            <a:off x="254000" y="533400"/>
            <a:ext cx="1712328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000000"/>
                </a:solidFill>
              </a:defRPr>
            </a:pPr>
            <a:r>
              <a:t>Opponent: River Falls    Date: 07/30/2026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SER.PQDPRESENTATIONID" val="a2db7404-ef63-458d-9189-ecb23f594b04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748</Words>
  <Application>Microsoft Office PowerPoint</Application>
  <PresentationFormat>On-screen Show (4:3)</PresentationFormat>
  <Paragraphs>158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Ryan Eigenberger</cp:lastModifiedBy>
  <cp:revision>5</cp:revision>
  <dcterms:created xsi:type="dcterms:W3CDTF">2013-01-27T09:14:16Z</dcterms:created>
  <dcterms:modified xsi:type="dcterms:W3CDTF">2026-07-30T11:11:13Z</dcterms:modified>
  <cp:category/>
</cp:coreProperties>
</file>